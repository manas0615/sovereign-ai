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Proposed Solution (Describe your Idea/Solution/Prototype)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72768"/>
            <a:ext cx="3621024" cy="471830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" y="1645920"/>
            <a:ext cx="3474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1. System Architecture &amp; Stack
</a:t>
            </a:r>
            <a:r>
              <a:rPr sz="950" i="1">
                <a:solidFill>
                  <a:srgbClr val="E1F0FA"/>
                </a:solidFill>
                <a:latin typeface="Calibri"/>
              </a:rPr>
              <a:t>✦ Detailed Explanation of Proposed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50008"/>
            <a:ext cx="3438144" cy="310896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19" b="1">
                <a:solidFill>
                  <a:srgbClr val="0F3C64"/>
                </a:solidFill>
                <a:latin typeface="Calibri"/>
              </a:rPr>
              <a:t>FASTAPI • REACT WORKSPACE • LLAMA.CPP • CHROMADB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734056"/>
            <a:ext cx="3401568" cy="3483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Native Windows Host (Zero-Cloud): </a:t>
            </a:r>
            <a:r>
              <a:rPr sz="1000">
                <a:solidFill>
                  <a:srgbClr val="374150"/>
                </a:solidFill>
                <a:latin typeface="Calibri"/>
              </a:rPr>
              <a:t>Fully self-contained FastAPI backend + React UI running natively on Windows without Docker or external cloud AI dependencies.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Local LLM Inference Engine: </a:t>
            </a:r>
            <a:r>
              <a:rPr sz="1000">
                <a:solidFill>
                  <a:srgbClr val="374150"/>
                </a:solidFill>
                <a:latin typeface="Calibri"/>
              </a:rPr>
              <a:t>High-throughput execution of quantized open-weight LLMs (GGUF) via llama.cpp directly on enterprise workstation GPUs/CPUs.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Hybrid Knowledge &amp; OCR Engine: </a:t>
            </a:r>
            <a:r>
              <a:rPr sz="1000">
                <a:solidFill>
                  <a:srgbClr val="374150"/>
                </a:solidFill>
                <a:latin typeface="Calibri"/>
              </a:rPr>
              <a:t>ChromaDB vector retrieval + lexical search over SOPs, manuals, P&amp;IDs, and scanned PDF inspection records (via OCR pipeline).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Persistent Multi-Step Agent Host: </a:t>
            </a:r>
            <a:r>
              <a:rPr sz="1000">
                <a:solidFill>
                  <a:srgbClr val="374150"/>
                </a:solidFill>
                <a:latin typeface="Calibri"/>
              </a:rPr>
              <a:t>Autonomous agent orchestrator maintaining durable SQLite state checkpoints, session recovery, and governed tool calling loops.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72768"/>
            <a:ext cx="3621024" cy="4718304"/>
          </a:xfrm>
          <a:prstGeom prst="roundRect">
            <a:avLst/>
          </a:prstGeom>
          <a:solidFill>
            <a:srgbClr val="F4FAF8"/>
          </a:solidFill>
          <a:ln w="1651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1645920"/>
            <a:ext cx="3474720" cy="640080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2. Industrial Problem &amp; Workflow
</a:t>
            </a:r>
            <a:r>
              <a:rPr sz="950" i="1">
                <a:solidFill>
                  <a:srgbClr val="E1F0FA"/>
                </a:solidFill>
                <a:latin typeface="Calibri"/>
              </a:rPr>
              <a:t>✦ How it Addresses Confidentiality &amp;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50008"/>
            <a:ext cx="3438144" cy="84124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386584"/>
            <a:ext cx="340156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E6251"/>
                </a:solidFill>
              </a:rPr>
              <a:t>END-TO-END OPERATIONAL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1.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2. Route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7296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3. Qualify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4.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2642616"/>
            <a:ext cx="60350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80" b="1">
                <a:solidFill>
                  <a:srgbClr val="0E6251"/>
                </a:solidFill>
                <a:latin typeface="Calibri"/>
              </a:rPr>
              <a:t>5.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64408"/>
            <a:ext cx="3401568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Zero Cloud Data Leakage: </a:t>
            </a:r>
            <a:r>
              <a:rPr sz="1000">
                <a:solidFill>
                  <a:srgbClr val="374150"/>
                </a:solidFill>
                <a:latin typeface="Calibri"/>
              </a:rPr>
              <a:t>Keeps sensitive engineering drawings, proprietary code, and financial data strictly inside the on-premise security boundary.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Overcomes Chatbot Fragility: </a:t>
            </a:r>
            <a:r>
              <a:rPr sz="1000">
                <a:solidFill>
                  <a:srgbClr val="374150"/>
                </a:solidFill>
                <a:latin typeface="Calibri"/>
              </a:rPr>
              <a:t>Replaces single-shot prompts with stateful agent workflows that iteratively plan, execute tools, verify, and recover from failures.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Strict Grounding &amp; Evidence Backing: </a:t>
            </a:r>
            <a:r>
              <a:rPr sz="1000">
                <a:solidFill>
                  <a:srgbClr val="374150"/>
                </a:solidFill>
                <a:latin typeface="Calibri"/>
              </a:rPr>
              <a:t>Mitigates hallucination by anchoring agent outputs in retrieved local enterprise knowledge and deterministic tool calculations.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572768"/>
            <a:ext cx="3621024" cy="4718304"/>
          </a:xfrm>
          <a:prstGeom prst="roundRect">
            <a:avLst/>
          </a:prstGeom>
          <a:solidFill>
            <a:srgbClr val="FAF6FE"/>
          </a:solidFill>
          <a:ln w="16510">
            <a:solidFill>
              <a:srgbClr val="D7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0456" y="1645920"/>
            <a:ext cx="3474720" cy="640080"/>
          </a:xfrm>
          <a:prstGeom prst="roundRect">
            <a:avLst/>
          </a:prstGeom>
          <a:solidFill>
            <a:srgbClr val="5C2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3. Innovation &amp; Differentiators
</a:t>
            </a:r>
            <a:r>
              <a:rPr sz="950" i="1">
                <a:solidFill>
                  <a:srgbClr val="E1F0FA"/>
                </a:solidFill>
                <a:latin typeface="Calibri"/>
              </a:rPr>
              <a:t>✦ Uniqueness &amp; Governance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2350008"/>
            <a:ext cx="3438144" cy="310896"/>
          </a:xfrm>
          <a:prstGeom prst="roundRect">
            <a:avLst/>
          </a:prstGeom>
          <a:solidFill>
            <a:srgbClr val="F0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19" b="1">
                <a:solidFill>
                  <a:srgbClr val="461E5F"/>
                </a:solidFill>
                <a:latin typeface="Calibri"/>
              </a:rPr>
              <a:t>CAPABILITY GATING • SHA-256 AUDIT • FEDERATED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734056"/>
            <a:ext cx="3401568" cy="3483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Capability-Aware Model Router: </a:t>
            </a:r>
            <a:r>
              <a:rPr sz="1000">
                <a:solidFill>
                  <a:srgbClr val="374150"/>
                </a:solidFill>
                <a:latin typeface="Calibri"/>
              </a:rPr>
              <a:t>Dynamically dispatches sub-goals (reasoning, code generation, extraction) to the best-fit qualified local model profile.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Model Qualification &amp; Trust Gate: </a:t>
            </a:r>
            <a:r>
              <a:rPr sz="1000">
                <a:solidFill>
                  <a:srgbClr val="374150"/>
                </a:solidFill>
                <a:latin typeface="Calibri"/>
              </a:rPr>
              <a:t>Models must pass domain benchmarks before authorization; unverified models cannot execute privileged tools.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Verifiable Artifact Engine: </a:t>
            </a:r>
            <a:r>
              <a:rPr sz="1000">
                <a:solidFill>
                  <a:srgbClr val="374150"/>
                </a:solidFill>
                <a:latin typeface="Calibri"/>
              </a:rPr>
              <a:t>Generates ready-to-use business deliverables (DOCX, XLSX, PPTX, PDF) accompanied by SHA-256 evidence logs.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150" b="1">
                <a:solidFill>
                  <a:srgbClr val="5C2C72"/>
                </a:solidFill>
              </a:rPr>
              <a:t>▪ </a:t>
            </a:r>
            <a:r>
              <a:rPr sz="1060" b="1">
                <a:solidFill>
                  <a:srgbClr val="122037"/>
                </a:solidFill>
                <a:latin typeface="Calibri"/>
              </a:rPr>
              <a:t>Comprehensive Audit &amp; Provenance: </a:t>
            </a:r>
            <a:r>
              <a:rPr sz="1000">
                <a:solidFill>
                  <a:srgbClr val="374150"/>
                </a:solidFill>
                <a:latin typeface="Calibri"/>
              </a:rPr>
              <a:t>Maintains an immutable execution ledger recording model IDs, tool inputs/outputs, prompt snapshots, and retrieval timestamps.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Technical Approach (Architecture, Implementation &amp; Stack)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36192"/>
            <a:ext cx="11365992" cy="205740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" y="1591056"/>
            <a:ext cx="11219688" cy="29260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SOVEREIGN AI WORKBENCH — 5-LAYER SYSTEM ARCHITECTURE &amp; DATAFLOW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2157984" cy="1572768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1">
                <a:solidFill>
                  <a:srgbClr val="2980B9"/>
                </a:solidFill>
                <a:latin typeface="Calibri"/>
              </a:rPr>
              <a:t>1. Presentation Layer
</a:t>
            </a:r>
          </a:p>
          <a:p>
            <a:pPr algn="ctr">
              <a:spcAft>
                <a:spcPts val="400"/>
              </a:spcAft>
            </a:pPr>
            <a:r>
              <a:rPr sz="819" b="1">
                <a:solidFill>
                  <a:srgbClr val="1E2832"/>
                </a:solidFill>
                <a:latin typeface="Calibri"/>
              </a:rPr>
              <a:t>React 18 • TypeScript • Tailwind
</a:t>
            </a:r>
          </a:p>
          <a:p>
            <a:pPr algn="ctr"/>
            <a:r>
              <a:rPr sz="800">
                <a:solidFill>
                  <a:srgbClr val="3C4655"/>
                </a:solidFill>
                <a:latin typeface="Calibri"/>
              </a:rPr>
              <a:t>7 Workspaces: Chat, Coding, Knowledge, Artifacts, Tasks, Passports, Invariants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1938528"/>
            <a:ext cx="2157984" cy="1572768"/>
          </a:xfrm>
          <a:prstGeom prst="roundRect">
            <a:avLst/>
          </a:prstGeom>
          <a:solidFill>
            <a:srgbClr val="EBFAF0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1">
                <a:solidFill>
                  <a:srgbClr val="27AE60"/>
                </a:solidFill>
                <a:latin typeface="Calibri"/>
              </a:rPr>
              <a:t>2. API &amp; Orchestration
</a:t>
            </a:r>
          </a:p>
          <a:p>
            <a:pPr algn="ctr">
              <a:spcAft>
                <a:spcPts val="400"/>
              </a:spcAft>
            </a:pPr>
            <a:r>
              <a:rPr sz="819" b="1">
                <a:solidFill>
                  <a:srgbClr val="1E2832"/>
                </a:solidFill>
                <a:latin typeface="Calibri"/>
              </a:rPr>
              <a:t>FastAPI • Agent Host Orchestrator
</a:t>
            </a:r>
          </a:p>
          <a:p>
            <a:pPr algn="ctr"/>
            <a:r>
              <a:rPr sz="800">
                <a:solidFill>
                  <a:srgbClr val="3C4655"/>
                </a:solidFill>
                <a:latin typeface="Calibri"/>
              </a:rPr>
              <a:t>Multi-turn Agent Loop, SQLite Durable State &amp; Recovery Checkpoints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1938528"/>
            <a:ext cx="2157984" cy="1572768"/>
          </a:xfrm>
          <a:prstGeom prst="roundRect">
            <a:avLst/>
          </a:prstGeom>
          <a:solidFill>
            <a:srgbClr val="F8F0FF"/>
          </a:solidFill>
          <a:ln w="1524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1">
                <a:solidFill>
                  <a:srgbClr val="8E44AD"/>
                </a:solidFill>
                <a:latin typeface="Calibri"/>
              </a:rPr>
              <a:t>3. Intelligence &amp; Routing
</a:t>
            </a:r>
          </a:p>
          <a:p>
            <a:pPr algn="ctr">
              <a:spcAft>
                <a:spcPts val="400"/>
              </a:spcAft>
            </a:pPr>
            <a:r>
              <a:rPr sz="819" b="1">
                <a:solidFill>
                  <a:srgbClr val="1E2832"/>
                </a:solidFill>
                <a:latin typeface="Calibri"/>
              </a:rPr>
              <a:t>Capability Router • llama.cpp
</a:t>
            </a:r>
          </a:p>
          <a:p>
            <a:pPr algn="ctr"/>
            <a:r>
              <a:rPr sz="800">
                <a:solidFill>
                  <a:srgbClr val="3C4655"/>
                </a:solidFill>
                <a:latin typeface="Calibri"/>
              </a:rPr>
              <a:t>GGUF Quantization (CPU/CUDA Offloading), Capability Qualification Passports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1938528"/>
            <a:ext cx="2157984" cy="1572768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1">
                <a:solidFill>
                  <a:srgbClr val="D35400"/>
                </a:solidFill>
                <a:latin typeface="Calibri"/>
              </a:rPr>
              <a:t>4. Execution &amp; Knowledge
</a:t>
            </a:r>
          </a:p>
          <a:p>
            <a:pPr algn="ctr">
              <a:spcAft>
                <a:spcPts val="400"/>
              </a:spcAft>
            </a:pPr>
            <a:r>
              <a:rPr sz="819" b="1">
                <a:solidFill>
                  <a:srgbClr val="1E2832"/>
                </a:solidFill>
                <a:latin typeface="Calibri"/>
              </a:rPr>
              <a:t>ChromaDB • SQLite FTS5 • OCR
</a:t>
            </a:r>
          </a:p>
          <a:p>
            <a:pPr algn="ctr"/>
            <a:r>
              <a:rPr sz="800">
                <a:solidFill>
                  <a:srgbClr val="3C4655"/>
                </a:solidFill>
                <a:latin typeface="Calibri"/>
              </a:rPr>
              <a:t>Hybrid Vector-Lexical RAG, Governed Tool Subprocess Boundary (Timeout &amp; Limits)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0616" y="1938528"/>
            <a:ext cx="2157984" cy="1572768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1">
                <a:solidFill>
                  <a:srgbClr val="2C3E50"/>
                </a:solidFill>
                <a:latin typeface="Calibri"/>
              </a:rPr>
              <a:t>5. Output &amp; Verification
</a:t>
            </a:r>
          </a:p>
          <a:p>
            <a:pPr algn="ctr">
              <a:spcAft>
                <a:spcPts val="400"/>
              </a:spcAft>
            </a:pPr>
            <a:r>
              <a:rPr sz="819" b="1">
                <a:solidFill>
                  <a:srgbClr val="1E2832"/>
                </a:solidFill>
                <a:latin typeface="Calibri"/>
              </a:rPr>
              <a:t>Artifact Engine • SHA-256 Ledger
</a:t>
            </a:r>
          </a:p>
          <a:p>
            <a:pPr algn="ctr"/>
            <a:r>
              <a:rPr sz="800">
                <a:solidFill>
                  <a:srgbClr val="3C4655"/>
                </a:solidFill>
                <a:latin typeface="Calibri"/>
              </a:rPr>
              <a:t>Generates DOCX, XLSX, PPTX, PDF + Independent Code Verification Harness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75887"/>
            <a:ext cx="3621024" cy="2615184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" y="3730751"/>
            <a:ext cx="3474720" cy="36576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Local Model Inference &amp;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151375"/>
            <a:ext cx="3401568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B4F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llama.cpp Local Serving: </a:t>
            </a:r>
            <a:r>
              <a:rPr sz="919">
                <a:solidFill>
                  <a:srgbClr val="374150"/>
                </a:solidFill>
                <a:latin typeface="Calibri"/>
              </a:rPr>
              <a:t>Native C/C++ engine executing 4-bit / 8-bit quantized GGUF weights with zero cloud API dependencies.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B4F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Capability-Aware Routing: </a:t>
            </a:r>
            <a:r>
              <a:rPr sz="919">
                <a:solidFill>
                  <a:srgbClr val="374150"/>
                </a:solidFill>
                <a:latin typeface="Calibri"/>
              </a:rPr>
              <a:t>Evaluates prompt intents (general reasoning, coding, extraction) and dispatches to qualified local model profiles.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B4F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Model Passports &amp; Gating: </a:t>
            </a:r>
            <a:r>
              <a:rPr sz="919">
                <a:solidFill>
                  <a:srgbClr val="374150"/>
                </a:solidFill>
                <a:latin typeface="Calibri"/>
              </a:rPr>
              <a:t>Models must pass automated benchmark suites to earn capability contracts before task assignment.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675887"/>
            <a:ext cx="3621024" cy="2615184"/>
          </a:xfrm>
          <a:prstGeom prst="roundRect">
            <a:avLst/>
          </a:prstGeom>
          <a:solidFill>
            <a:srgbClr val="F4FAF8"/>
          </a:solidFill>
          <a:ln w="1524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2544" y="3730751"/>
            <a:ext cx="3474720" cy="365760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Knowledge Ingestion &amp; OCR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51375"/>
            <a:ext cx="3401568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17A65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Hybrid Vector &amp; Lexical RAG: </a:t>
            </a:r>
            <a:r>
              <a:rPr sz="919">
                <a:solidFill>
                  <a:srgbClr val="374150"/>
                </a:solidFill>
                <a:latin typeface="Calibri"/>
              </a:rPr>
              <a:t>Combines ChromaDB dense embeddings with SQLite FTS5 BM25 keyword matching for high-recall industrial retrieval.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17A65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Scanned Document OCR: </a:t>
            </a:r>
            <a:r>
              <a:rPr sz="919">
                <a:solidFill>
                  <a:srgbClr val="374150"/>
                </a:solidFill>
                <a:latin typeface="Calibri"/>
              </a:rPr>
              <a:t>Ingests scanned PDF inspection logs and engineering manuals via OCR extraction with chunk-level SHA-256 digests.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17A65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Grounded Evidence Citation: </a:t>
            </a:r>
            <a:r>
              <a:rPr sz="919">
                <a:solidFill>
                  <a:srgbClr val="374150"/>
                </a:solidFill>
                <a:latin typeface="Calibri"/>
              </a:rPr>
              <a:t>Strict citation of chunk IDs and document digests to eliminate hallucination in safety-critical reviews.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3675887"/>
            <a:ext cx="3621024" cy="2615184"/>
          </a:xfrm>
          <a:prstGeom prst="roundRect">
            <a:avLst/>
          </a:prstGeom>
          <a:solidFill>
            <a:srgbClr val="FAF6FE"/>
          </a:solidFill>
          <a:ln w="15240">
            <a:solidFill>
              <a:srgbClr val="D7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3730751"/>
            <a:ext cx="3474720" cy="365760"/>
          </a:xfrm>
          <a:prstGeom prst="roundRect">
            <a:avLst/>
          </a:prstGeom>
          <a:solidFill>
            <a:srgbClr val="5C2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Governed Execution &amp; Artifact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4151375"/>
            <a:ext cx="3401568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5C2C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Execution Boundary: </a:t>
            </a:r>
            <a:r>
              <a:rPr sz="919">
                <a:solidFill>
                  <a:srgbClr val="374150"/>
                </a:solidFill>
                <a:latin typeface="Calibri"/>
              </a:rPr>
              <a:t>Subprocess execution with strict per-task timeouts (10s), path confinement, and process monitoring.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5C2C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Trusted Verification Harness: </a:t>
            </a:r>
            <a:r>
              <a:rPr sz="919">
                <a:solidFill>
                  <a:srgbClr val="374150"/>
                </a:solidFill>
                <a:latin typeface="Calibri"/>
              </a:rPr>
              <a:t>Independent programmatic test suite evaluates generated code against acceptance cases (not trusting LLM stdout).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5C2C72"/>
                </a:solidFill>
              </a:rPr>
              <a:t>▪ </a:t>
            </a:r>
            <a:r>
              <a:rPr sz="980" b="1">
                <a:solidFill>
                  <a:srgbClr val="14233C"/>
                </a:solidFill>
                <a:latin typeface="Calibri"/>
              </a:rPr>
              <a:t>Multi-Format Artifacts: </a:t>
            </a:r>
            <a:r>
              <a:rPr sz="919">
                <a:solidFill>
                  <a:srgbClr val="374150"/>
                </a:solidFill>
                <a:latin typeface="Calibri"/>
              </a:rPr>
              <a:t>Generates Word (.docx), Excel (.xlsx), PPTX, and PDF documents paired with cryptographic SHA-256 evidence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Feasibility and Viability (Deployment, Boundaries &amp; Roadmap)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72768"/>
            <a:ext cx="3621024" cy="471830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" y="1645920"/>
            <a:ext cx="3474720" cy="6400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1. Technical &amp; Practical Feasibility
</a:t>
            </a:r>
            <a:r>
              <a:rPr sz="950" i="1">
                <a:solidFill>
                  <a:srgbClr val="EBF0FA"/>
                </a:solidFill>
                <a:latin typeface="Calibri"/>
              </a:rPr>
              <a:t>✦ Demonstrated Local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377440"/>
            <a:ext cx="340156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Native Windows Deployment: </a:t>
            </a:r>
            <a:r>
              <a:rPr sz="980">
                <a:solidFill>
                  <a:srgbClr val="374150"/>
                </a:solidFill>
                <a:latin typeface="Calibri"/>
              </a:rPr>
              <a:t>Validated prototype runs turnkey on standard Windows PCs without Docker or hypervisor virtualization overhead.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Standard Hardware Footprint: </a:t>
            </a:r>
            <a:r>
              <a:rPr sz="980">
                <a:solidFill>
                  <a:srgbClr val="374150"/>
                </a:solidFill>
                <a:latin typeface="Calibri"/>
              </a:rPr>
              <a:t>Runs on modest consumer/workstation hardware (8-16 GB VRAM GPU or 16-32 GB RAM modern CPU) with GGUF 4-bit/8-bit models.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Zero Cloud API Cost &amp; Latency: </a:t>
            </a:r>
            <a:r>
              <a:rPr sz="980">
                <a:solidFill>
                  <a:srgbClr val="374150"/>
                </a:solidFill>
                <a:latin typeface="Calibri"/>
              </a:rPr>
              <a:t>Eliminates per-token cloud API billing; delivers predictable operational costs and deterministic offline uptime.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Validated Deliverable Synthesis: </a:t>
            </a:r>
            <a:r>
              <a:rPr sz="980">
                <a:solidFill>
                  <a:srgbClr val="374150"/>
                </a:solidFill>
                <a:latin typeface="Calibri"/>
              </a:rPr>
              <a:t>Demonstrated automated production of Word (.docx), Excel (.xlsx), PPTX, and PDF reports with verifiable SHA-256 byte manifests.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72768"/>
            <a:ext cx="3621024" cy="4718304"/>
          </a:xfrm>
          <a:prstGeom prst="roundRect">
            <a:avLst/>
          </a:prstGeom>
          <a:solidFill>
            <a:srgbClr val="FEF7F7"/>
          </a:solidFill>
          <a:ln w="1651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1645920"/>
            <a:ext cx="3474720" cy="64008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2. Honest Boundaries &amp; Disclosures
</a:t>
            </a:r>
            <a:r>
              <a:rPr sz="950" i="1">
                <a:solidFill>
                  <a:srgbClr val="EBF0FA"/>
                </a:solidFill>
                <a:latin typeface="Calibri"/>
              </a:rPr>
              <a:t>✦ Current Security &amp; Functional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340156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B2222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Restricted Subprocess Boundary: </a:t>
            </a:r>
            <a:r>
              <a:rPr sz="980">
                <a:solidFill>
                  <a:srgbClr val="374150"/>
                </a:solidFill>
                <a:latin typeface="Calibri"/>
              </a:rPr>
              <a:t>Current code execution uses subprocess limits (10s timeout, path restrictions); not an OS-level hypervisor sandbox.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B2222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OCR vs Native Multimodal VLM: </a:t>
            </a:r>
            <a:r>
              <a:rPr sz="980">
                <a:solidFill>
                  <a:srgbClr val="374150"/>
                </a:solidFill>
                <a:latin typeface="Calibri"/>
              </a:rPr>
              <a:t>Scanned document comprehension currently utilizes OCR text extraction rather than native multimodal visual token reasoning.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B2222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Host-Level Network Air-Gap: </a:t>
            </a:r>
            <a:r>
              <a:rPr sz="980">
                <a:solidFill>
                  <a:srgbClr val="374150"/>
                </a:solidFill>
                <a:latin typeface="Calibri"/>
              </a:rPr>
              <a:t>Socket monitoring confirms loopback binding (127.0.0.1); complete air-gapping requires physical/firewall network disconnection.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B22222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Task-Specific Qualification: </a:t>
            </a:r>
            <a:r>
              <a:rPr sz="980">
                <a:solidFill>
                  <a:srgbClr val="374150"/>
                </a:solidFill>
                <a:latin typeface="Calibri"/>
              </a:rPr>
              <a:t>No model is universally trusted; models are authorized strictly for benchmarked capability contracts (e.g. coding vs reasoning).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572768"/>
            <a:ext cx="3621024" cy="4718304"/>
          </a:xfrm>
          <a:prstGeom prst="roundRect">
            <a:avLst/>
          </a:prstGeom>
          <a:solidFill>
            <a:srgbClr val="F4FAF8"/>
          </a:solidFill>
          <a:ln w="1651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0456" y="1645920"/>
            <a:ext cx="3474720" cy="640080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3. 36-Hour Hackathon Roadmap
</a:t>
            </a:r>
            <a:r>
              <a:rPr sz="950" i="1">
                <a:solidFill>
                  <a:srgbClr val="EBF0FA"/>
                </a:solidFill>
                <a:latin typeface="Calibri"/>
              </a:rPr>
              <a:t>✦ Planned Hardening &amp; Extensions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377440"/>
            <a:ext cx="340156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OS-Level Sandbox Hardening: </a:t>
            </a:r>
            <a:r>
              <a:rPr sz="980">
                <a:solidFill>
                  <a:srgbClr val="374150"/>
                </a:solidFill>
                <a:latin typeface="Calibri"/>
              </a:rPr>
              <a:t>Upgrade code execution to Windows Sandbox / Job Object isolation with strict token-restricted memory boundaries.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Native VLM Vision Integration: </a:t>
            </a:r>
            <a:r>
              <a:rPr sz="980">
                <a:solidFill>
                  <a:srgbClr val="374150"/>
                </a:solidFill>
                <a:latin typeface="Calibri"/>
              </a:rPr>
              <a:t>Integrate open-weight visual models (e.g. Qwen2-VL / Llama-3.2-Vision via llama.cpp) for visual P&amp;ID diagram comprehension.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Automated Test Suite Expansion: </a:t>
            </a:r>
            <a:r>
              <a:rPr sz="980">
                <a:solidFill>
                  <a:srgbClr val="374150"/>
                </a:solidFill>
                <a:latin typeface="Calibri"/>
              </a:rPr>
              <a:t>Expand independent verification test generators for automated Python, SQL, and engineering formula checking.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150" b="1">
                <a:solidFill>
                  <a:srgbClr val="117A65"/>
                </a:solidFill>
              </a:rPr>
              <a:t>▪ </a:t>
            </a:r>
            <a:r>
              <a:rPr sz="1050" b="1">
                <a:solidFill>
                  <a:srgbClr val="122037"/>
                </a:solidFill>
                <a:latin typeface="Calibri"/>
              </a:rPr>
              <a:t>Role-Based Access Control (RBAC): </a:t>
            </a:r>
            <a:r>
              <a:rPr sz="980">
                <a:solidFill>
                  <a:srgbClr val="374150"/>
                </a:solidFill>
                <a:latin typeface="Calibri"/>
              </a:rPr>
              <a:t>Implement organizational permission tiers and cryptographic signature verification for Model Passports.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Impact and Benefits (Industrial Value, Sovereignty &amp; Traceability)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36192"/>
            <a:ext cx="11365992" cy="621792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8C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154360"/>
                </a:solidFill>
              </a:rPr>
              <a:t>PRIMARY TARGET SECTORS: </a:t>
            </a:r>
            <a:r>
              <a:rPr sz="950" b="1">
                <a:solidFill>
                  <a:srgbClr val="1E2D41"/>
                </a:solidFill>
                <a:latin typeface="Calibri"/>
              </a:rPr>
              <a:t>PSUs • Defence Manufacturing • Refineries &amp; Energy • Heavy Engineering • Critical Infrastructure
</a:t>
            </a:r>
            <a:r>
              <a:rPr sz="880" i="1">
                <a:solidFill>
                  <a:srgbClr val="465569"/>
                </a:solidFill>
              </a:rPr>
              <a:t>Designed specifically for organizations with strict data residency mandates and zero tolerance for external cloud IP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49424"/>
            <a:ext cx="5559552" cy="19933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" y="2304288"/>
            <a:ext cx="5413248" cy="36576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🛡️  100% Data Sovereignty &amp; Zero IP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534009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B4F72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Confidential blueprints, P&amp;IDs, financial logs, and proprietary code remain strictly inside the local enterprise network perimeter.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B4F72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Eliminates legal and compliance risks of data ingestion into public multi-tenant cloud AI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49424"/>
            <a:ext cx="5559552" cy="1993392"/>
          </a:xfrm>
          <a:prstGeom prst="roundRect">
            <a:avLst/>
          </a:prstGeom>
          <a:solidFill>
            <a:srgbClr val="F4FAF8"/>
          </a:solidFill>
          <a:ln w="1524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2304288"/>
            <a:ext cx="5413248" cy="365760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⚡  Evidence-Grounded Engineering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706624"/>
            <a:ext cx="534009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17A65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Accelerates high-friction technical tasks: inspection report cross-checking, tolerance extraction, and code synthesis.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117A65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Grounded hybrid RAG citations eliminate hallucinations in safety-critical industrial decision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407408"/>
            <a:ext cx="5559552" cy="1993392"/>
          </a:xfrm>
          <a:prstGeom prst="roundRect">
            <a:avLst/>
          </a:prstGeom>
          <a:solidFill>
            <a:srgbClr val="FAF6FE"/>
          </a:solidFill>
          <a:ln w="15240">
            <a:solidFill>
              <a:srgbClr val="D7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" y="4462272"/>
            <a:ext cx="5413248" cy="365760"/>
          </a:xfrm>
          <a:prstGeom prst="roundRect">
            <a:avLst/>
          </a:prstGeom>
          <a:solidFill>
            <a:srgbClr val="5C2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📜  Tamper-Evident Auditability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864608"/>
            <a:ext cx="534009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5C2C72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Generates real business deliverables (.docx, .xlsx, .pptx, .pdf) paired with immutable SHA-256 byte manifests.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5C2C72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Maintains full provenance tracking (model ID, prompt snapshot, tool execution log, timestamp) for audit readiness.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07408"/>
            <a:ext cx="5559552" cy="199339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4462272"/>
            <a:ext cx="5413248" cy="3657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🔋  Operational Resilience &amp; Cost Predictability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864608"/>
            <a:ext cx="5340096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2C3E50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Functions autonomously during internet outages, in remote field stations, or within strictly offline control rooms.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1">
                <a:solidFill>
                  <a:srgbClr val="2C3E50"/>
                </a:solidFill>
              </a:rPr>
              <a:t>▪ </a:t>
            </a:r>
            <a:r>
              <a:rPr sz="960">
                <a:solidFill>
                  <a:srgbClr val="2D3746"/>
                </a:solidFill>
                <a:latin typeface="Calibri"/>
              </a:rPr>
              <a:t>Maximizes existing on-premise workstation hardware ROI with zero recurring per-token cloud API subscription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82880"/>
            <a:ext cx="137160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8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82828"/>
                </a:solidFill>
                <a:latin typeface="Calibri"/>
              </a:rPr>
              <a:t>Your
Team
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1945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1923"/>
                </a:solidFill>
                <a:latin typeface="Georgia"/>
              </a:rPr>
              <a:t>SOVEREIGN ON-PREMISE AGENTIC AI WORKBENCH</a:t>
            </a:r>
          </a:p>
        </p:txBody>
      </p:sp>
      <p:pic>
        <p:nvPicPr>
          <p:cNvPr id="4" name="Picture 3" descr="sih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9728"/>
            <a:ext cx="2194560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051560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50" b="1" u="sng">
                <a:solidFill>
                  <a:srgbClr val="1F4E79"/>
                </a:solidFill>
                <a:latin typeface="Calibri"/>
              </a:rPr>
              <a:t>❖ Research and References (Technical Foundations &amp; Standards)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37376"/>
            <a:ext cx="10362895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72768"/>
            <a:ext cx="5559552" cy="2249424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A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" y="1627632"/>
            <a:ext cx="5413248" cy="347472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Calibri"/>
              </a:rPr>
              <a:t>Local Model Inference &amp; 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011680"/>
            <a:ext cx="5340096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B4F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Gerganov, G., et al. (2023)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llama.cpp: High-performance LLM inference in C/C++ with GGUF format </a:t>
            </a:r>
            <a:r>
              <a:rPr sz="860" b="1">
                <a:solidFill>
                  <a:srgbClr val="154360"/>
                </a:solidFill>
                <a:latin typeface="Calibri"/>
              </a:rPr>
              <a:t>[https://github.com/ggerganov/llama.cpp]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B4F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Dettmers, T., et al. (2023)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QLoRA: Efficient Finetuning of Quantized LLMs. NeurIPS 2023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[arXiv:2305.14314]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B4F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Frantar, E., et al. (2022)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GPTQ: Accurate Post-Training Quantization for Generative Pre-trained Transformers. ICLR 2023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[arXiv:2210.17323]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5559552" cy="2249424"/>
          </a:xfrm>
          <a:prstGeom prst="roundRect">
            <a:avLst/>
          </a:prstGeom>
          <a:solidFill>
            <a:srgbClr val="F4FAF8"/>
          </a:solidFill>
          <a:ln w="15240">
            <a:solidFill>
              <a:srgbClr val="A2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627632"/>
            <a:ext cx="5413248" cy="347472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Calibri"/>
              </a:rPr>
              <a:t>Agent Orchestration &amp; Knowledge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11680"/>
            <a:ext cx="5340096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17A65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Yao, S., et al. (2022)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ReAct: Synergizing Reasoning and Acting in Language Models. ICLR 2023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[arXiv:2210.03629]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17A65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Lewis, P., et al. (2020)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Retrieval-Augmented Generation for Knowledge-Intensive NLP Tasks. NeurIPS 2020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[arXiv:2005.11401]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17A65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Schick, T., et al. (2023)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Toolformer: Language Models Can Teach Themselves to Use Tools. NeurIPS 2023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[arXiv:2302.04761]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05072"/>
            <a:ext cx="5559552" cy="2249424"/>
          </a:xfrm>
          <a:prstGeom prst="roundRect">
            <a:avLst/>
          </a:prstGeom>
          <a:solidFill>
            <a:srgbClr val="FAF6FE"/>
          </a:solidFill>
          <a:ln w="15240">
            <a:solidFill>
              <a:srgbClr val="D7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" y="4059936"/>
            <a:ext cx="5413248" cy="347472"/>
          </a:xfrm>
          <a:prstGeom prst="roundRect">
            <a:avLst/>
          </a:prstGeom>
          <a:solidFill>
            <a:srgbClr val="5C2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Calibri"/>
              </a:rPr>
              <a:t>AI Governance &amp; Industrial Security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443984"/>
            <a:ext cx="5340096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5C2C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NIST (2023)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Artificial Intelligence Risk Management Framework (AI RMF 1.0). NIST AI 100-1 </a:t>
            </a:r>
            <a:r>
              <a:rPr sz="860" b="1">
                <a:solidFill>
                  <a:srgbClr val="154360"/>
                </a:solidFill>
                <a:latin typeface="Calibri"/>
              </a:rPr>
              <a:t>[https://doi.org/10.6028/NIST.AI.100-1]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5C2C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ISO/IEC 42001:2023 — </a:t>
            </a:r>
            <a:r>
              <a:rPr sz="919" i="1">
                <a:solidFill>
                  <a:srgbClr val="323C4B"/>
                </a:solidFill>
                <a:latin typeface="Calibri"/>
              </a:rPr>
              <a:t>Information Technology — Artificial Intelligence — Management System </a:t>
            </a:r>
            <a:r>
              <a:rPr sz="860" b="1">
                <a:solidFill>
                  <a:srgbClr val="154360"/>
                </a:solidFill>
                <a:latin typeface="Calibri"/>
              </a:rPr>
              <a:t>[International Organization for Standardization]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5C2C72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Brundage, M., et al. (2020)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Toward Trustworthy AI Development: Mechanisms for Supporting Verifiable Claims </a:t>
            </a:r>
            <a:r>
              <a:rPr sz="860" b="1">
                <a:solidFill>
                  <a:srgbClr val="154360"/>
                </a:solidFill>
                <a:latin typeface="Calibri"/>
              </a:rPr>
              <a:t>[arXiv:2004.07213]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05072"/>
            <a:ext cx="5559552" cy="224942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4059936"/>
            <a:ext cx="5413248" cy="347472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Calibri"/>
              </a:rPr>
              <a:t>Frameworks &amp; Protocol Specifications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443984"/>
            <a:ext cx="5340096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Tiangolo, S., et al. (2018–2024)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FastAPI: High-Performance Asynchronous Python Web Framework </a:t>
            </a:r>
            <a:r>
              <a:rPr sz="860" b="1">
                <a:solidFill>
                  <a:srgbClr val="154360"/>
                </a:solidFill>
                <a:latin typeface="Calibri"/>
              </a:rPr>
              <a:t>[https://fastapi.tiangolo.com]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Anthropic (2024)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Model Context Protocol (MCP) Specification: Standard for Secure AI-Tool Interoperability </a:t>
            </a:r>
            <a:r>
              <a:rPr sz="860" b="1">
                <a:solidFill>
                  <a:srgbClr val="154360"/>
                </a:solidFill>
                <a:latin typeface="Calibri"/>
              </a:rPr>
              <a:t>[https://modelcontextprotocol.io]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</a:rPr>
              <a:t>▪ </a:t>
            </a:r>
            <a:r>
              <a:rPr sz="950" b="1">
                <a:solidFill>
                  <a:srgbClr val="14233C"/>
                </a:solidFill>
                <a:latin typeface="Calibri"/>
              </a:rPr>
              <a:t>Chroma Team (2023) — </a:t>
            </a:r>
            <a:r>
              <a:rPr sz="919" i="1">
                <a:solidFill>
                  <a:srgbClr val="323C4B"/>
                </a:solidFill>
                <a:latin typeface="Calibri"/>
              </a:rPr>
              <a:t>Chroma: Open-source Embedding Database for AI Applications </a:t>
            </a:r>
            <a:r>
              <a:rPr sz="860" b="1">
                <a:solidFill>
                  <a:srgbClr val="154360"/>
                </a:solidFill>
                <a:latin typeface="Calibri"/>
              </a:rPr>
              <a:t>[https://github.com/chroma-core/chroma]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