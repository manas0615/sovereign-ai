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182880"/>
            <a:ext cx="1371600" cy="7772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783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282828"/>
                </a:solidFill>
                <a:latin typeface="Calibri"/>
              </a:rPr>
              <a:t>Your
Team
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219456"/>
            <a:ext cx="7406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0F1923"/>
                </a:solidFill>
                <a:latin typeface="Georgia"/>
              </a:rPr>
              <a:t>SOVEREIGN ON-PREMISE AGENTIC AI WORKBENCH</a:t>
            </a:r>
          </a:p>
        </p:txBody>
      </p:sp>
      <p:pic>
        <p:nvPicPr>
          <p:cNvPr id="4" name="Picture 3" descr="sih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9728"/>
            <a:ext cx="2194560" cy="9326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1051560"/>
            <a:ext cx="1136599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50" b="1" u="sng">
                <a:solidFill>
                  <a:srgbClr val="1F4E79"/>
                </a:solidFill>
                <a:latin typeface="Calibri"/>
              </a:rPr>
              <a:t>❖ Proposed Solution (Describe your Idea/Solution/Prototype)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572768"/>
            <a:ext cx="3621024" cy="4718304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BAC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4632" y="1645920"/>
            <a:ext cx="3474720" cy="640080"/>
          </a:xfrm>
          <a:prstGeom prst="round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280" b="1">
                <a:solidFill>
                  <a:srgbClr val="FFFFFF"/>
                </a:solidFill>
                <a:latin typeface="Calibri"/>
              </a:rPr>
              <a:t>1. System Architecture &amp; Stack
</a:t>
            </a:r>
            <a:r>
              <a:rPr sz="950" i="1">
                <a:solidFill>
                  <a:srgbClr val="E1F0FA"/>
                </a:solidFill>
                <a:latin typeface="Calibri"/>
              </a:rPr>
              <a:t>✦ Detailed Explanation of Proposed 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50008"/>
            <a:ext cx="3438144" cy="310896"/>
          </a:xfrm>
          <a:prstGeom prst="round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19" b="1">
                <a:solidFill>
                  <a:srgbClr val="0F3C64"/>
                </a:solidFill>
                <a:latin typeface="Calibri"/>
              </a:rPr>
              <a:t>FASTAPI • REACT WORKSPACE • LLAMA.CPP • CHROMADB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2734056"/>
            <a:ext cx="3401568" cy="3483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150" b="1">
                <a:solidFill>
                  <a:srgbClr val="1B4F72"/>
                </a:solidFill>
              </a:rPr>
              <a:t>▪ </a:t>
            </a:r>
            <a:r>
              <a:rPr sz="1060" b="1">
                <a:solidFill>
                  <a:srgbClr val="122037"/>
                </a:solidFill>
                <a:latin typeface="Calibri"/>
              </a:rPr>
              <a:t>Native Windows Host (Zero-Cloud): </a:t>
            </a:r>
            <a:r>
              <a:rPr sz="1000">
                <a:solidFill>
                  <a:srgbClr val="374150"/>
                </a:solidFill>
                <a:latin typeface="Calibri"/>
              </a:rPr>
              <a:t>Fully self-contained FastAPI backend + React UI running natively on Windows without Docker or external cloud AI dependencies.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150" b="1">
                <a:solidFill>
                  <a:srgbClr val="1B4F72"/>
                </a:solidFill>
              </a:rPr>
              <a:t>▪ </a:t>
            </a:r>
            <a:r>
              <a:rPr sz="1060" b="1">
                <a:solidFill>
                  <a:srgbClr val="122037"/>
                </a:solidFill>
                <a:latin typeface="Calibri"/>
              </a:rPr>
              <a:t>Local LLM Inference Engine: </a:t>
            </a:r>
            <a:r>
              <a:rPr sz="1000">
                <a:solidFill>
                  <a:srgbClr val="374150"/>
                </a:solidFill>
                <a:latin typeface="Calibri"/>
              </a:rPr>
              <a:t>High-throughput execution of quantized open-weight LLMs (GGUF) via llama.cpp directly on enterprise workstation GPUs/CPUs.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150" b="1">
                <a:solidFill>
                  <a:srgbClr val="1B4F72"/>
                </a:solidFill>
              </a:rPr>
              <a:t>▪ </a:t>
            </a:r>
            <a:r>
              <a:rPr sz="1060" b="1">
                <a:solidFill>
                  <a:srgbClr val="122037"/>
                </a:solidFill>
                <a:latin typeface="Calibri"/>
              </a:rPr>
              <a:t>Hybrid Knowledge &amp; OCR Engine: </a:t>
            </a:r>
            <a:r>
              <a:rPr sz="1000">
                <a:solidFill>
                  <a:srgbClr val="374150"/>
                </a:solidFill>
                <a:latin typeface="Calibri"/>
              </a:rPr>
              <a:t>ChromaDB vector retrieval + lexical search over SOPs, manuals, P&amp;IDs, and scanned PDF inspection records (via OCR pipeline).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150" b="1">
                <a:solidFill>
                  <a:srgbClr val="1B4F72"/>
                </a:solidFill>
              </a:rPr>
              <a:t>▪ </a:t>
            </a:r>
            <a:r>
              <a:rPr sz="1060" b="1">
                <a:solidFill>
                  <a:srgbClr val="122037"/>
                </a:solidFill>
                <a:latin typeface="Calibri"/>
              </a:rPr>
              <a:t>Persistent Multi-Step Agent Host: </a:t>
            </a:r>
            <a:r>
              <a:rPr sz="1000">
                <a:solidFill>
                  <a:srgbClr val="374150"/>
                </a:solidFill>
                <a:latin typeface="Calibri"/>
              </a:rPr>
              <a:t>Autonomous agent orchestrator maintaining durable SQLite state checkpoints, session recovery, and governed tool calling loops.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572768"/>
            <a:ext cx="3621024" cy="4718304"/>
          </a:xfrm>
          <a:prstGeom prst="roundRect">
            <a:avLst/>
          </a:prstGeom>
          <a:solidFill>
            <a:srgbClr val="F4FAF8"/>
          </a:solidFill>
          <a:ln w="16510">
            <a:solidFill>
              <a:srgbClr val="A2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52544" y="1645920"/>
            <a:ext cx="3474720" cy="640080"/>
          </a:xfrm>
          <a:prstGeom prst="round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280" b="1">
                <a:solidFill>
                  <a:srgbClr val="FFFFFF"/>
                </a:solidFill>
                <a:latin typeface="Calibri"/>
              </a:rPr>
              <a:t>2. Industrial Problem &amp; Workflow
</a:t>
            </a:r>
            <a:r>
              <a:rPr sz="950" i="1">
                <a:solidFill>
                  <a:srgbClr val="E1F0FA"/>
                </a:solidFill>
                <a:latin typeface="Calibri"/>
              </a:rPr>
              <a:t>✦ How it Addresses Confidentiality &amp; Tasks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2350008"/>
            <a:ext cx="3438144" cy="841248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A2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386584"/>
            <a:ext cx="340156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0E6251"/>
                </a:solidFill>
              </a:rPr>
              <a:t>END-TO-END OPERATIONAL WORKFLOW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3984" y="2642616"/>
            <a:ext cx="603504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8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80" b="1">
                <a:solidFill>
                  <a:srgbClr val="0E6251"/>
                </a:solidFill>
                <a:latin typeface="Calibri"/>
              </a:rPr>
              <a:t>1. Goal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2642616"/>
            <a:ext cx="603504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8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80" b="1">
                <a:solidFill>
                  <a:srgbClr val="0E6251"/>
                </a:solidFill>
                <a:latin typeface="Calibri"/>
              </a:rPr>
              <a:t>2. Route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97296" y="2642616"/>
            <a:ext cx="603504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8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80" b="1">
                <a:solidFill>
                  <a:srgbClr val="0E6251"/>
                </a:solidFill>
                <a:latin typeface="Calibri"/>
              </a:rPr>
              <a:t>3. Qualify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73952" y="2642616"/>
            <a:ext cx="603504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8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80" b="1">
                <a:solidFill>
                  <a:srgbClr val="0E6251"/>
                </a:solidFill>
                <a:latin typeface="Calibri"/>
              </a:rPr>
              <a:t>4. Tools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50608" y="2642616"/>
            <a:ext cx="603504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8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80" b="1">
                <a:solidFill>
                  <a:srgbClr val="0E6251"/>
                </a:solidFill>
                <a:latin typeface="Calibri"/>
              </a:rPr>
              <a:t>5. Artifact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264408"/>
            <a:ext cx="3401568" cy="2962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150" b="1">
                <a:solidFill>
                  <a:srgbClr val="117A65"/>
                </a:solidFill>
              </a:rPr>
              <a:t>▪ </a:t>
            </a:r>
            <a:r>
              <a:rPr sz="1060" b="1">
                <a:solidFill>
                  <a:srgbClr val="122037"/>
                </a:solidFill>
                <a:latin typeface="Calibri"/>
              </a:rPr>
              <a:t>Zero Cloud Data Leakage: </a:t>
            </a:r>
            <a:r>
              <a:rPr sz="1000">
                <a:solidFill>
                  <a:srgbClr val="374150"/>
                </a:solidFill>
                <a:latin typeface="Calibri"/>
              </a:rPr>
              <a:t>Keeps sensitive engineering drawings, proprietary code, and financial data strictly inside the on-premise security boundary.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150" b="1">
                <a:solidFill>
                  <a:srgbClr val="117A65"/>
                </a:solidFill>
              </a:rPr>
              <a:t>▪ </a:t>
            </a:r>
            <a:r>
              <a:rPr sz="1060" b="1">
                <a:solidFill>
                  <a:srgbClr val="122037"/>
                </a:solidFill>
                <a:latin typeface="Calibri"/>
              </a:rPr>
              <a:t>Overcomes Chatbot Fragility: </a:t>
            </a:r>
            <a:r>
              <a:rPr sz="1000">
                <a:solidFill>
                  <a:srgbClr val="374150"/>
                </a:solidFill>
                <a:latin typeface="Calibri"/>
              </a:rPr>
              <a:t>Replaces single-shot prompts with stateful agent workflows that iteratively plan, execute tools, verify, and recover from failures.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150" b="1">
                <a:solidFill>
                  <a:srgbClr val="117A65"/>
                </a:solidFill>
              </a:rPr>
              <a:t>▪ </a:t>
            </a:r>
            <a:r>
              <a:rPr sz="1060" b="1">
                <a:solidFill>
                  <a:srgbClr val="122037"/>
                </a:solidFill>
                <a:latin typeface="Calibri"/>
              </a:rPr>
              <a:t>Strict Grounding &amp; Evidence Backing: </a:t>
            </a:r>
            <a:r>
              <a:rPr sz="1000">
                <a:solidFill>
                  <a:srgbClr val="374150"/>
                </a:solidFill>
                <a:latin typeface="Calibri"/>
              </a:rPr>
              <a:t>Mitigates hallucination by anchoring agent outputs in retrieved local enterprise knowledge and deterministic tool calculations.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47304" y="1572768"/>
            <a:ext cx="3621024" cy="4718304"/>
          </a:xfrm>
          <a:prstGeom prst="roundRect">
            <a:avLst/>
          </a:prstGeom>
          <a:solidFill>
            <a:srgbClr val="FAF6FE"/>
          </a:solidFill>
          <a:ln w="16510">
            <a:solidFill>
              <a:srgbClr val="D7B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0456" y="1645920"/>
            <a:ext cx="3474720" cy="640080"/>
          </a:xfrm>
          <a:prstGeom prst="roundRect">
            <a:avLst/>
          </a:prstGeom>
          <a:solidFill>
            <a:srgbClr val="5C2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280" b="1">
                <a:solidFill>
                  <a:srgbClr val="FFFFFF"/>
                </a:solidFill>
                <a:latin typeface="Calibri"/>
              </a:rPr>
              <a:t>3. Innovation &amp; Differentiators
</a:t>
            </a:r>
            <a:r>
              <a:rPr sz="950" i="1">
                <a:solidFill>
                  <a:srgbClr val="E1F0FA"/>
                </a:solidFill>
                <a:latin typeface="Calibri"/>
              </a:rPr>
              <a:t>✦ Uniqueness &amp; Governance Model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38744" y="2350008"/>
            <a:ext cx="3438144" cy="310896"/>
          </a:xfrm>
          <a:prstGeom prst="roundRect">
            <a:avLst/>
          </a:prstGeom>
          <a:solidFill>
            <a:srgbClr val="F0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19" b="1">
                <a:solidFill>
                  <a:srgbClr val="461E5F"/>
                </a:solidFill>
                <a:latin typeface="Calibri"/>
              </a:rPr>
              <a:t>CAPABILITY GATING • SHA-256 AUDIT • FEDERATED ROUTING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2" y="2734056"/>
            <a:ext cx="3401568" cy="3483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150" b="1">
                <a:solidFill>
                  <a:srgbClr val="5C2C72"/>
                </a:solidFill>
              </a:rPr>
              <a:t>▪ </a:t>
            </a:r>
            <a:r>
              <a:rPr sz="1060" b="1">
                <a:solidFill>
                  <a:srgbClr val="122037"/>
                </a:solidFill>
                <a:latin typeface="Calibri"/>
              </a:rPr>
              <a:t>Capability-Aware Model Router: </a:t>
            </a:r>
            <a:r>
              <a:rPr sz="1000">
                <a:solidFill>
                  <a:srgbClr val="374150"/>
                </a:solidFill>
                <a:latin typeface="Calibri"/>
              </a:rPr>
              <a:t>Dynamically dispatches sub-goals (reasoning, code generation, extraction) to the best-fit qualified local model profile.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150" b="1">
                <a:solidFill>
                  <a:srgbClr val="5C2C72"/>
                </a:solidFill>
              </a:rPr>
              <a:t>▪ </a:t>
            </a:r>
            <a:r>
              <a:rPr sz="1060" b="1">
                <a:solidFill>
                  <a:srgbClr val="122037"/>
                </a:solidFill>
                <a:latin typeface="Calibri"/>
              </a:rPr>
              <a:t>Model Qualification &amp; Trust Gate: </a:t>
            </a:r>
            <a:r>
              <a:rPr sz="1000">
                <a:solidFill>
                  <a:srgbClr val="374150"/>
                </a:solidFill>
                <a:latin typeface="Calibri"/>
              </a:rPr>
              <a:t>Models must pass domain benchmarks before authorization; unverified models cannot execute privileged tools.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150" b="1">
                <a:solidFill>
                  <a:srgbClr val="5C2C72"/>
                </a:solidFill>
              </a:rPr>
              <a:t>▪ </a:t>
            </a:r>
            <a:r>
              <a:rPr sz="1060" b="1">
                <a:solidFill>
                  <a:srgbClr val="122037"/>
                </a:solidFill>
                <a:latin typeface="Calibri"/>
              </a:rPr>
              <a:t>Verifiable Artifact Engine: </a:t>
            </a:r>
            <a:r>
              <a:rPr sz="1000">
                <a:solidFill>
                  <a:srgbClr val="374150"/>
                </a:solidFill>
                <a:latin typeface="Calibri"/>
              </a:rPr>
              <a:t>Generates ready-to-use business deliverables (DOCX, XLSX, PPTX, PDF) accompanied by SHA-256 evidence logs.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150" b="1">
                <a:solidFill>
                  <a:srgbClr val="5C2C72"/>
                </a:solidFill>
              </a:rPr>
              <a:t>▪ </a:t>
            </a:r>
            <a:r>
              <a:rPr sz="1060" b="1">
                <a:solidFill>
                  <a:srgbClr val="122037"/>
                </a:solidFill>
                <a:latin typeface="Calibri"/>
              </a:rPr>
              <a:t>Comprehensive Audit &amp; Provenance: </a:t>
            </a:r>
            <a:r>
              <a:rPr sz="1000">
                <a:solidFill>
                  <a:srgbClr val="374150"/>
                </a:solidFill>
                <a:latin typeface="Calibri"/>
              </a:rPr>
              <a:t>Maintains an immutable execution ledger recording model IDs, tool inputs/outputs, prompt snapshots, and retrieval timestamps.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6437376"/>
            <a:ext cx="10362895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37376"/>
            <a:ext cx="64008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